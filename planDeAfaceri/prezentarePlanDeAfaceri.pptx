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5"/>
  </p:notesMasterIdLst>
  <p:sldIdLst>
    <p:sldId id="256" r:id="rId2"/>
    <p:sldId id="261" r:id="rId3"/>
    <p:sldId id="259" r:id="rId4"/>
    <p:sldId id="260" r:id="rId5"/>
    <p:sldId id="258" r:id="rId6"/>
    <p:sldId id="295" r:id="rId7"/>
    <p:sldId id="297" r:id="rId8"/>
    <p:sldId id="284" r:id="rId9"/>
    <p:sldId id="285" r:id="rId10"/>
    <p:sldId id="272" r:id="rId11"/>
    <p:sldId id="267" r:id="rId12"/>
    <p:sldId id="262" r:id="rId13"/>
    <p:sldId id="278" r:id="rId1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tamaran" panose="020B0604020202020204" charset="0"/>
      <p:regular r:id="rId20"/>
      <p:bold r:id="rId21"/>
    </p:embeddedFont>
    <p:embeddedFont>
      <p:font typeface="Catamaran Thin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6FEA"/>
    <a:srgbClr val="EB9F9F"/>
    <a:srgbClr val="86EA88"/>
    <a:srgbClr val="54E2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3EC2C83-4F27-46E9-AB52-EA9CB43B9D6F}">
  <a:tblStyle styleId="{93EC2C83-4F27-46E9-AB52-EA9CB43B9D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77553AC-1573-4A18-AE2D-678138A4FA2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2" d="100"/>
          <a:sy n="112" d="100"/>
        </p:scale>
        <p:origin x="58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b2f7c811e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b2f7c811e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b2f7c811e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b2f7c811e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d9c6d70173_1_1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d9c6d70173_1_1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11" name="Google Shape;11;p2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30" name="Google Shape;30;p2"/>
          <p:cNvSpPr txBox="1">
            <a:spLocks noGrp="1"/>
          </p:cNvSpPr>
          <p:nvPr>
            <p:ph type="ctrTitle"/>
          </p:nvPr>
        </p:nvSpPr>
        <p:spPr>
          <a:xfrm>
            <a:off x="702900" y="3250075"/>
            <a:ext cx="49551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3"/>
          <p:cNvGrpSpPr/>
          <p:nvPr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33" name="Google Shape;33;p3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4" name="Google Shape;34;p3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52" name="Google Shape;52;p3"/>
          <p:cNvSpPr txBox="1">
            <a:spLocks noGrp="1"/>
          </p:cNvSpPr>
          <p:nvPr>
            <p:ph type="ctrTitle"/>
          </p:nvPr>
        </p:nvSpPr>
        <p:spPr>
          <a:xfrm>
            <a:off x="2305150" y="2884378"/>
            <a:ext cx="5811000" cy="47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3" name="Google Shape;53;p3"/>
          <p:cNvSpPr txBox="1">
            <a:spLocks noGrp="1"/>
          </p:cNvSpPr>
          <p:nvPr>
            <p:ph type="subTitle" idx="1"/>
          </p:nvPr>
        </p:nvSpPr>
        <p:spPr>
          <a:xfrm>
            <a:off x="2305150" y="3385436"/>
            <a:ext cx="5811000" cy="41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2pPr>
            <a:lvl3pPr lvl="2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3pPr>
            <a:lvl4pPr lvl="3" rtl="0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800"/>
              </a:spcBef>
              <a:spcAft>
                <a:spcPts val="8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solidFill>
          <a:schemeClr val="accen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/>
          <p:nvPr/>
        </p:nvSpPr>
        <p:spPr>
          <a:xfrm>
            <a:off x="2500800" y="285475"/>
            <a:ext cx="4142388" cy="4572547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rgbClr val="4F0089">
              <a:alpha val="1508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239143" y="104898"/>
            <a:ext cx="665704" cy="734888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57" name="Google Shape;57;p4"/>
          <p:cNvSpPr txBox="1">
            <a:spLocks noGrp="1"/>
          </p:cNvSpPr>
          <p:nvPr>
            <p:ph type="body" idx="1"/>
          </p:nvPr>
        </p:nvSpPr>
        <p:spPr>
          <a:xfrm>
            <a:off x="2753950" y="839775"/>
            <a:ext cx="3636000" cy="363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⬢"/>
              <a:defRPr i="1">
                <a:solidFill>
                  <a:schemeClr val="lt1"/>
                </a:solidFill>
              </a:defRPr>
            </a:lvl1pPr>
            <a:lvl2pPr marL="914400" lvl="1" indent="-3302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⬡"/>
              <a:defRPr i="1">
                <a:solidFill>
                  <a:schemeClr val="lt1"/>
                </a:solidFill>
              </a:defRPr>
            </a:lvl2pPr>
            <a:lvl3pPr marL="1371600" lvl="2" indent="-3302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⬡"/>
              <a:defRPr i="1">
                <a:solidFill>
                  <a:schemeClr val="lt1"/>
                </a:solidFill>
              </a:defRPr>
            </a:lvl3pPr>
            <a:lvl4pPr marL="1828800" lvl="3" indent="-3810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i="1">
                <a:solidFill>
                  <a:schemeClr val="lt1"/>
                </a:solidFill>
              </a:defRPr>
            </a:lvl4pPr>
            <a:lvl5pPr marL="2286000" lvl="4" indent="-3810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i="1">
                <a:solidFill>
                  <a:schemeClr val="lt1"/>
                </a:solidFill>
              </a:defRPr>
            </a:lvl5pPr>
            <a:lvl6pPr marL="2743200" lvl="5" indent="-3810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 i="1">
                <a:solidFill>
                  <a:schemeClr val="lt1"/>
                </a:solidFill>
              </a:defRPr>
            </a:lvl6pPr>
            <a:lvl7pPr marL="3200400" lvl="6" indent="-3810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i="1">
                <a:solidFill>
                  <a:schemeClr val="lt1"/>
                </a:solidFill>
              </a:defRPr>
            </a:lvl7pPr>
            <a:lvl8pPr marL="3657600" lvl="7" indent="-3810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i="1">
                <a:solidFill>
                  <a:schemeClr val="lt1"/>
                </a:solidFill>
              </a:defRPr>
            </a:lvl8pPr>
            <a:lvl9pPr marL="4114800" lvl="8" indent="-381000" algn="ctr" rtl="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400"/>
              <a:buChar char="■"/>
              <a:defRPr i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4"/>
          <p:cNvSpPr txBox="1"/>
          <p:nvPr/>
        </p:nvSpPr>
        <p:spPr>
          <a:xfrm>
            <a:off x="3593400" y="3841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“</a:t>
            </a:r>
            <a:endParaRPr sz="9600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9" name="Google Shape;59;p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4"/>
          <p:cNvSpPr/>
          <p:nvPr/>
        </p:nvSpPr>
        <p:spPr>
          <a:xfrm rot="10800000">
            <a:off x="6914577" y="-3"/>
            <a:ext cx="2002536" cy="734878"/>
          </a:xfrm>
          <a:custGeom>
            <a:avLst/>
            <a:gdLst/>
            <a:ahLst/>
            <a:cxnLst/>
            <a:rect l="l" t="t" r="r" b="b"/>
            <a:pathLst>
              <a:path w="21600" h="21175" extrusionOk="0">
                <a:moveTo>
                  <a:pt x="21600" y="21175"/>
                </a:moveTo>
                <a:lnTo>
                  <a:pt x="21600" y="20652"/>
                </a:lnTo>
                <a:cubicBezTo>
                  <a:pt x="21600" y="17251"/>
                  <a:pt x="20920" y="14109"/>
                  <a:pt x="19815" y="12409"/>
                </a:cubicBezTo>
                <a:lnTo>
                  <a:pt x="12585" y="1274"/>
                </a:lnTo>
                <a:cubicBezTo>
                  <a:pt x="11480" y="-425"/>
                  <a:pt x="10120" y="-425"/>
                  <a:pt x="9015" y="1274"/>
                </a:cubicBezTo>
                <a:lnTo>
                  <a:pt x="1785" y="12409"/>
                </a:lnTo>
                <a:cubicBezTo>
                  <a:pt x="680" y="14108"/>
                  <a:pt x="0" y="17251"/>
                  <a:pt x="0" y="20652"/>
                </a:cubicBezTo>
                <a:lnTo>
                  <a:pt x="0" y="21175"/>
                </a:ln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1" name="Google Shape;61;p4"/>
          <p:cNvSpPr/>
          <p:nvPr/>
        </p:nvSpPr>
        <p:spPr>
          <a:xfrm rot="10800000">
            <a:off x="2189989" y="-3"/>
            <a:ext cx="2002536" cy="734878"/>
          </a:xfrm>
          <a:custGeom>
            <a:avLst/>
            <a:gdLst/>
            <a:ahLst/>
            <a:cxnLst/>
            <a:rect l="l" t="t" r="r" b="b"/>
            <a:pathLst>
              <a:path w="21600" h="21175" extrusionOk="0">
                <a:moveTo>
                  <a:pt x="21600" y="21175"/>
                </a:moveTo>
                <a:lnTo>
                  <a:pt x="21600" y="20652"/>
                </a:lnTo>
                <a:cubicBezTo>
                  <a:pt x="21600" y="17251"/>
                  <a:pt x="20920" y="14109"/>
                  <a:pt x="19815" y="12409"/>
                </a:cubicBezTo>
                <a:lnTo>
                  <a:pt x="12585" y="1274"/>
                </a:lnTo>
                <a:cubicBezTo>
                  <a:pt x="11480" y="-425"/>
                  <a:pt x="10120" y="-425"/>
                  <a:pt x="9015" y="1274"/>
                </a:cubicBezTo>
                <a:lnTo>
                  <a:pt x="1785" y="12409"/>
                </a:lnTo>
                <a:cubicBezTo>
                  <a:pt x="680" y="14108"/>
                  <a:pt x="0" y="17251"/>
                  <a:pt x="0" y="20652"/>
                </a:cubicBezTo>
                <a:lnTo>
                  <a:pt x="0" y="21175"/>
                </a:ln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1609650" y="4039228"/>
            <a:ext cx="2001186" cy="1104224"/>
          </a:xfrm>
          <a:custGeom>
            <a:avLst/>
            <a:gdLst/>
            <a:ahLst/>
            <a:cxnLst/>
            <a:rect l="l" t="t" r="r" b="b"/>
            <a:pathLst>
              <a:path w="21600" h="21315" extrusionOk="0">
                <a:moveTo>
                  <a:pt x="21600" y="21315"/>
                </a:moveTo>
                <a:lnTo>
                  <a:pt x="21600" y="13849"/>
                </a:lnTo>
                <a:cubicBezTo>
                  <a:pt x="21600" y="11569"/>
                  <a:pt x="20920" y="9461"/>
                  <a:pt x="19816" y="8321"/>
                </a:cubicBezTo>
                <a:lnTo>
                  <a:pt x="12585" y="855"/>
                </a:lnTo>
                <a:cubicBezTo>
                  <a:pt x="11480" y="-285"/>
                  <a:pt x="10120" y="-285"/>
                  <a:pt x="9015" y="855"/>
                </a:cubicBezTo>
                <a:lnTo>
                  <a:pt x="1785" y="8321"/>
                </a:lnTo>
                <a:cubicBezTo>
                  <a:pt x="680" y="9461"/>
                  <a:pt x="0" y="11569"/>
                  <a:pt x="0" y="13849"/>
                </a:cubicBezTo>
                <a:lnTo>
                  <a:pt x="0" y="21315"/>
                </a:ln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7591188" y="4039228"/>
            <a:ext cx="2001186" cy="1104224"/>
          </a:xfrm>
          <a:custGeom>
            <a:avLst/>
            <a:gdLst/>
            <a:ahLst/>
            <a:cxnLst/>
            <a:rect l="l" t="t" r="r" b="b"/>
            <a:pathLst>
              <a:path w="21600" h="21315" extrusionOk="0">
                <a:moveTo>
                  <a:pt x="21600" y="21315"/>
                </a:moveTo>
                <a:lnTo>
                  <a:pt x="21600" y="13849"/>
                </a:lnTo>
                <a:cubicBezTo>
                  <a:pt x="21600" y="11569"/>
                  <a:pt x="20920" y="9461"/>
                  <a:pt x="19816" y="8321"/>
                </a:cubicBezTo>
                <a:lnTo>
                  <a:pt x="12585" y="855"/>
                </a:lnTo>
                <a:cubicBezTo>
                  <a:pt x="11480" y="-285"/>
                  <a:pt x="10120" y="-285"/>
                  <a:pt x="9015" y="855"/>
                </a:cubicBezTo>
                <a:lnTo>
                  <a:pt x="1785" y="8321"/>
                </a:lnTo>
                <a:cubicBezTo>
                  <a:pt x="680" y="9461"/>
                  <a:pt x="0" y="11569"/>
                  <a:pt x="0" y="13849"/>
                </a:cubicBezTo>
                <a:lnTo>
                  <a:pt x="0" y="21315"/>
                </a:ln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875251" y="3108746"/>
            <a:ext cx="1238537" cy="1367251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750099" y="2565690"/>
            <a:ext cx="1670713" cy="184417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8078502" y="1646297"/>
            <a:ext cx="1238537" cy="1367197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-276225" y="372088"/>
            <a:ext cx="2001163" cy="2208980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750100" y="993931"/>
            <a:ext cx="874503" cy="965303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-211075" y="4039231"/>
            <a:ext cx="874503" cy="965303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/>
          <p:nvPr/>
        </p:nvSpPr>
        <p:spPr>
          <a:xfrm>
            <a:off x="-45517" y="689752"/>
            <a:ext cx="624020" cy="68879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72" name="Google Shape;72;p5"/>
          <p:cNvGrpSpPr/>
          <p:nvPr/>
        </p:nvGrpSpPr>
        <p:grpSpPr>
          <a:xfrm>
            <a:off x="6320991" y="-7"/>
            <a:ext cx="3630818" cy="5143498"/>
            <a:chOff x="6320991" y="-7"/>
            <a:chExt cx="3630818" cy="5143498"/>
          </a:xfrm>
        </p:grpSpPr>
        <p:sp>
          <p:nvSpPr>
            <p:cNvPr id="73" name="Google Shape;73;p5"/>
            <p:cNvSpPr/>
            <p:nvPr/>
          </p:nvSpPr>
          <p:spPr>
            <a:xfrm>
              <a:off x="6320991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7806636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8548210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 rot="10800000">
              <a:off x="7806422" y="30"/>
              <a:ext cx="1404540" cy="515400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7806643" y="1543679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065077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745616" y="1335143"/>
              <a:ext cx="835681" cy="92246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7133773" y="3941724"/>
              <a:ext cx="507445" cy="5601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 rot="10800000">
              <a:off x="7406482" y="-7"/>
              <a:ext cx="720792" cy="527782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7331887" y="2181982"/>
              <a:ext cx="962029" cy="106196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8548210" y="2833077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84" name="Google Shape;84;p5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⬢"/>
              <a:defRPr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⬡"/>
              <a:defRPr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⬡"/>
              <a:defRPr/>
            </a:lvl3pPr>
            <a:lvl4pPr marL="1828800" lvl="3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/>
          <p:nvPr/>
        </p:nvSpPr>
        <p:spPr>
          <a:xfrm>
            <a:off x="-45517" y="689752"/>
            <a:ext cx="624020" cy="68879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126" name="Google Shape;126;p8"/>
          <p:cNvGrpSpPr/>
          <p:nvPr/>
        </p:nvGrpSpPr>
        <p:grpSpPr>
          <a:xfrm>
            <a:off x="6320991" y="-7"/>
            <a:ext cx="3630818" cy="5143498"/>
            <a:chOff x="6320991" y="-7"/>
            <a:chExt cx="3630818" cy="5143498"/>
          </a:xfrm>
        </p:grpSpPr>
        <p:sp>
          <p:nvSpPr>
            <p:cNvPr id="127" name="Google Shape;127;p8"/>
            <p:cNvSpPr/>
            <p:nvPr/>
          </p:nvSpPr>
          <p:spPr>
            <a:xfrm>
              <a:off x="6320991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7806636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8548210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0" name="Google Shape;130;p8"/>
            <p:cNvSpPr/>
            <p:nvPr/>
          </p:nvSpPr>
          <p:spPr>
            <a:xfrm rot="10800000">
              <a:off x="7806422" y="30"/>
              <a:ext cx="1404540" cy="515400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7806643" y="1543679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7065077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3" name="Google Shape;133;p8"/>
            <p:cNvSpPr/>
            <p:nvPr/>
          </p:nvSpPr>
          <p:spPr>
            <a:xfrm>
              <a:off x="8745616" y="1335143"/>
              <a:ext cx="835681" cy="92246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7133773" y="3941724"/>
              <a:ext cx="507445" cy="5601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5" name="Google Shape;135;p8"/>
            <p:cNvSpPr/>
            <p:nvPr/>
          </p:nvSpPr>
          <p:spPr>
            <a:xfrm rot="10800000">
              <a:off x="7406482" y="-7"/>
              <a:ext cx="720792" cy="527782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7331887" y="2181982"/>
              <a:ext cx="962029" cy="106196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8548210" y="2833077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0"/>
          <p:cNvGrpSpPr/>
          <p:nvPr/>
        </p:nvGrpSpPr>
        <p:grpSpPr>
          <a:xfrm>
            <a:off x="-981075" y="-3"/>
            <a:ext cx="11516344" cy="5143455"/>
            <a:chOff x="-981075" y="-3"/>
            <a:chExt cx="11516344" cy="5143455"/>
          </a:xfrm>
        </p:grpSpPr>
        <p:sp>
          <p:nvSpPr>
            <p:cNvPr id="159" name="Google Shape;159;p10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0" name="Google Shape;160;p10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1" name="Google Shape;161;p10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2" name="Google Shape;162;p10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3" name="Google Shape;163;p10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4" name="Google Shape;164;p10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5" name="Google Shape;165;p10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6" name="Google Shape;166;p10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7" name="Google Shape;167;p10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8" name="Google Shape;168;p10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9" name="Google Shape;169;p10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0" name="Google Shape;170;p10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171" name="Google Shape;171;p1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olor background">
  <p:cSld name="BLANK_1">
    <p:bg>
      <p:bgPr>
        <a:solidFill>
          <a:schemeClr val="accen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74" name="Google Shape;174;p11"/>
          <p:cNvGrpSpPr/>
          <p:nvPr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175" name="Google Shape;175;p11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6" name="Google Shape;176;p11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7" name="Google Shape;177;p11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⬢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1pPr>
            <a:lvl2pPr marL="914400" lvl="1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2pPr>
            <a:lvl3pPr marL="1371600" lvl="2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3pPr>
            <a:lvl4pPr marL="1828800" lvl="3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4pPr>
            <a:lvl5pPr marL="2286000" lvl="4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5pPr>
            <a:lvl6pPr marL="2743200" lvl="5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6pPr>
            <a:lvl7pPr marL="3200400" lvl="6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7pPr>
            <a:lvl8pPr marL="3657600" lvl="7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8pPr>
            <a:lvl9pPr marL="4114800" lvl="8" indent="-3810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6" r:id="rId6"/>
    <p:sldLayoutId id="2147483657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 txBox="1">
            <a:spLocks noGrp="1"/>
          </p:cNvSpPr>
          <p:nvPr>
            <p:ph type="ctrTitle"/>
          </p:nvPr>
        </p:nvSpPr>
        <p:spPr>
          <a:xfrm>
            <a:off x="702900" y="3250075"/>
            <a:ext cx="49551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PLANUL DE AFACERE 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D7882-727D-44A5-B74B-C5EBB7B02002}"/>
              </a:ext>
            </a:extLst>
          </p:cNvPr>
          <p:cNvSpPr txBox="1"/>
          <p:nvPr/>
        </p:nvSpPr>
        <p:spPr>
          <a:xfrm>
            <a:off x="5916304" y="4633415"/>
            <a:ext cx="3227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lt1"/>
                </a:solidFill>
                <a:latin typeface="Catamaran Thin"/>
                <a:cs typeface="Catamaran Thin"/>
                <a:sym typeface="Catamaran Thin"/>
              </a:rPr>
              <a:t>Elaborat</a:t>
            </a:r>
            <a:r>
              <a:rPr lang="en-US" sz="2400" dirty="0">
                <a:solidFill>
                  <a:schemeClr val="lt1"/>
                </a:solidFill>
                <a:latin typeface="Catamaran Thin"/>
                <a:cs typeface="Catamaran Thin"/>
                <a:sym typeface="Catamaran Thin"/>
              </a:rPr>
              <a:t>: </a:t>
            </a:r>
            <a:r>
              <a:rPr lang="en-US" sz="2400" dirty="0" err="1">
                <a:solidFill>
                  <a:schemeClr val="lt1"/>
                </a:solidFill>
                <a:latin typeface="Catamaran Thin"/>
                <a:cs typeface="Catamaran Thin"/>
                <a:sym typeface="Catamaran Thin"/>
              </a:rPr>
              <a:t>Smoleac</a:t>
            </a:r>
            <a:r>
              <a:rPr lang="en-US" sz="2400" dirty="0">
                <a:solidFill>
                  <a:schemeClr val="lt1"/>
                </a:solidFill>
                <a:latin typeface="Catamaran Thin"/>
                <a:cs typeface="Catamaran Thin"/>
                <a:sym typeface="Catamaran Thin"/>
              </a:rPr>
              <a:t> Mihai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Cuprins</a:t>
            </a:r>
            <a:endParaRPr dirty="0"/>
          </a:p>
        </p:txBody>
      </p:sp>
      <p:sp>
        <p:nvSpPr>
          <p:cNvPr id="240" name="Google Shape;240;p17"/>
          <p:cNvSpPr txBox="1">
            <a:spLocks noGrp="1"/>
          </p:cNvSpPr>
          <p:nvPr>
            <p:ph type="body" idx="1"/>
          </p:nvPr>
        </p:nvSpPr>
        <p:spPr>
          <a:xfrm>
            <a:off x="779099" y="1503550"/>
            <a:ext cx="7543265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ro-RO" sz="1600" dirty="0"/>
              <a:t>1. Despre companie</a:t>
            </a:r>
          </a:p>
          <a:p>
            <a:r>
              <a:rPr lang="ro-RO" sz="1600" dirty="0"/>
              <a:t>	1.1 Numele companiei</a:t>
            </a:r>
          </a:p>
          <a:p>
            <a:r>
              <a:rPr lang="ro-RO" sz="1600" dirty="0"/>
              <a:t>	1.2 Descrierea scurtă a  companiei</a:t>
            </a:r>
          </a:p>
          <a:p>
            <a:r>
              <a:rPr lang="ro-RO" sz="1600" dirty="0"/>
              <a:t>	1.3 Descrierea serviciului și produsului</a:t>
            </a:r>
          </a:p>
          <a:p>
            <a:pPr marL="127000" indent="0">
              <a:buNone/>
            </a:pPr>
            <a:r>
              <a:rPr lang="ro-RO" sz="1600" dirty="0"/>
              <a:t>2. Analiza SWOT</a:t>
            </a:r>
          </a:p>
          <a:p>
            <a:pPr marL="127000" indent="0">
              <a:buNone/>
            </a:pPr>
            <a:r>
              <a:rPr lang="ro-RO" sz="1600" dirty="0"/>
              <a:t>3. Atragerea consumatorilor</a:t>
            </a:r>
          </a:p>
          <a:p>
            <a:pPr marL="127000" indent="0">
              <a:buNone/>
            </a:pPr>
            <a:r>
              <a:rPr lang="ro-RO" sz="1600" dirty="0"/>
              <a:t>5. Structură organizatorică</a:t>
            </a:r>
          </a:p>
          <a:p>
            <a:pPr marL="127000" indent="0">
              <a:buNone/>
            </a:pPr>
            <a:r>
              <a:rPr lang="ro-RO" sz="1600" dirty="0"/>
              <a:t>6. Concluzie</a:t>
            </a:r>
          </a:p>
          <a:p>
            <a:pPr marL="12700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ro-RO" sz="1600" dirty="0"/>
              <a:t>	</a:t>
            </a:r>
          </a:p>
        </p:txBody>
      </p:sp>
      <p:sp>
        <p:nvSpPr>
          <p:cNvPr id="241" name="Google Shape;241;p1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grpSp>
        <p:nvGrpSpPr>
          <p:cNvPr id="242" name="Google Shape;242;p17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43" name="Google Shape;243;p17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4" name="Google Shape;244;p17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5" name="Google Shape;245;p17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6" name="Google Shape;246;p17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>
            <a:spLocks noGrp="1"/>
          </p:cNvSpPr>
          <p:nvPr>
            <p:ph type="ctrTitle"/>
          </p:nvPr>
        </p:nvSpPr>
        <p:spPr>
          <a:xfrm>
            <a:off x="2305150" y="2884378"/>
            <a:ext cx="5811000" cy="47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Despre</a:t>
            </a:r>
            <a:r>
              <a:rPr lang="en-US" dirty="0"/>
              <a:t> </a:t>
            </a:r>
            <a:r>
              <a:rPr lang="en-US" dirty="0" err="1"/>
              <a:t>companie</a:t>
            </a:r>
            <a:endParaRPr dirty="0"/>
          </a:p>
        </p:txBody>
      </p:sp>
      <p:sp>
        <p:nvSpPr>
          <p:cNvPr id="227" name="Google Shape;227;p15"/>
          <p:cNvSpPr txBox="1">
            <a:spLocks noGrp="1"/>
          </p:cNvSpPr>
          <p:nvPr>
            <p:ph type="subTitle" idx="1"/>
          </p:nvPr>
        </p:nvSpPr>
        <p:spPr>
          <a:xfrm>
            <a:off x="2305150" y="3385436"/>
            <a:ext cx="5811000" cy="41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 err="1"/>
              <a:t>Descrierea</a:t>
            </a:r>
            <a:r>
              <a:rPr lang="en-US" dirty="0"/>
              <a:t> pe </a:t>
            </a:r>
            <a:r>
              <a:rPr lang="en-US" dirty="0" err="1"/>
              <a:t>scurt</a:t>
            </a:r>
            <a:r>
              <a:rPr lang="en-US" dirty="0"/>
              <a:t> al </a:t>
            </a:r>
            <a:r>
              <a:rPr lang="en-US" dirty="0" err="1"/>
              <a:t>planului</a:t>
            </a:r>
            <a:r>
              <a:rPr lang="en-US" dirty="0"/>
              <a:t> de </a:t>
            </a:r>
            <a:r>
              <a:rPr lang="en-US" dirty="0" err="1"/>
              <a:t>afacere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endParaRPr dirty="0"/>
          </a:p>
        </p:txBody>
      </p:sp>
      <p:sp>
        <p:nvSpPr>
          <p:cNvPr id="228" name="Google Shape;228;p15"/>
          <p:cNvSpPr txBox="1"/>
          <p:nvPr/>
        </p:nvSpPr>
        <p:spPr>
          <a:xfrm>
            <a:off x="77600" y="2201325"/>
            <a:ext cx="2004000" cy="22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b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1</a:t>
            </a:r>
            <a:endParaRPr sz="9600" b="1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"/>
          <p:cNvSpPr txBox="1">
            <a:spLocks noGrp="1"/>
          </p:cNvSpPr>
          <p:nvPr>
            <p:ph type="body" idx="1"/>
          </p:nvPr>
        </p:nvSpPr>
        <p:spPr>
          <a:xfrm>
            <a:off x="2548128" y="876351"/>
            <a:ext cx="3866206" cy="363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800"/>
              </a:spcAft>
              <a:buNone/>
            </a:pPr>
            <a:r>
              <a:rPr lang="ro-RO" dirty="0"/>
              <a:t>„</a:t>
            </a:r>
            <a:r>
              <a:rPr lang="en-US" dirty="0" err="1"/>
              <a:t>Dac</a:t>
            </a:r>
            <a:r>
              <a:rPr lang="ro-RO" dirty="0"/>
              <a:t>ă vrei să ai lucruri bune în viață, trebuie să le faci singur”</a:t>
            </a:r>
          </a:p>
          <a:p>
            <a:pPr marL="0" lvl="0" indent="0" algn="r" rtl="0">
              <a:spcBef>
                <a:spcPts val="0"/>
              </a:spcBef>
              <a:spcAft>
                <a:spcPts val="800"/>
              </a:spcAft>
              <a:buNone/>
            </a:pPr>
            <a:r>
              <a:rPr lang="ro-RO" dirty="0"/>
              <a:t>Smoleac Mihai</a:t>
            </a:r>
            <a:endParaRPr dirty="0"/>
          </a:p>
        </p:txBody>
      </p:sp>
      <p:sp>
        <p:nvSpPr>
          <p:cNvPr id="234" name="Google Shape;234;p1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"/>
          <p:cNvSpPr txBox="1">
            <a:spLocks noGrp="1"/>
          </p:cNvSpPr>
          <p:nvPr>
            <p:ph type="ctrTitle" idx="4294967295"/>
          </p:nvPr>
        </p:nvSpPr>
        <p:spPr>
          <a:xfrm>
            <a:off x="3381175" y="1054175"/>
            <a:ext cx="44223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dirty="0" err="1"/>
              <a:t>MiSage</a:t>
            </a:r>
            <a:endParaRPr sz="9600" dirty="0"/>
          </a:p>
        </p:txBody>
      </p:sp>
      <p:sp>
        <p:nvSpPr>
          <p:cNvPr id="219" name="Google Shape;219;p14"/>
          <p:cNvSpPr txBox="1">
            <a:spLocks noGrp="1"/>
          </p:cNvSpPr>
          <p:nvPr>
            <p:ph type="subTitle" idx="4294967295"/>
          </p:nvPr>
        </p:nvSpPr>
        <p:spPr>
          <a:xfrm>
            <a:off x="3381175" y="2253798"/>
            <a:ext cx="4422300" cy="16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b="1" dirty="0"/>
              <a:t>Numele companiei este o uniune al numelui meu și al cuvântului masaj pe engleză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b="1" u="sng" dirty="0"/>
              <a:t>Mi</a:t>
            </a:r>
            <a:r>
              <a:rPr lang="ro-RO" b="1" dirty="0"/>
              <a:t>hai + mas</a:t>
            </a:r>
            <a:r>
              <a:rPr lang="ro-RO" b="1" u="sng" dirty="0"/>
              <a:t>sage</a:t>
            </a:r>
            <a:r>
              <a:rPr lang="ro-RO" b="1" dirty="0"/>
              <a:t> = MiSage</a:t>
            </a:r>
            <a:endParaRPr b="1" dirty="0"/>
          </a:p>
        </p:txBody>
      </p:sp>
      <p:sp>
        <p:nvSpPr>
          <p:cNvPr id="220" name="Google Shape;220;p1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221" name="Google Shape;221;p1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201799" y="475766"/>
            <a:ext cx="1875772" cy="1967183"/>
          </a:xfrm>
          <a:custGeom>
            <a:avLst/>
            <a:gdLst/>
            <a:ahLst/>
            <a:cxnLst/>
            <a:rect l="l" t="t" r="r" b="b"/>
            <a:pathLst>
              <a:path w="21598" h="21456" extrusionOk="0">
                <a:moveTo>
                  <a:pt x="10800" y="0"/>
                </a:moveTo>
                <a:cubicBezTo>
                  <a:pt x="10183" y="0"/>
                  <a:pt x="9567" y="144"/>
                  <a:pt x="9014" y="430"/>
                </a:cubicBezTo>
                <a:lnTo>
                  <a:pt x="1782" y="4189"/>
                </a:lnTo>
                <a:cubicBezTo>
                  <a:pt x="678" y="4763"/>
                  <a:pt x="0" y="5821"/>
                  <a:pt x="0" y="6968"/>
                </a:cubicBezTo>
                <a:lnTo>
                  <a:pt x="0" y="14485"/>
                </a:lnTo>
                <a:cubicBezTo>
                  <a:pt x="1" y="15633"/>
                  <a:pt x="681" y="16694"/>
                  <a:pt x="1786" y="17268"/>
                </a:cubicBezTo>
                <a:lnTo>
                  <a:pt x="9018" y="21026"/>
                </a:lnTo>
                <a:cubicBezTo>
                  <a:pt x="10122" y="21600"/>
                  <a:pt x="11480" y="21600"/>
                  <a:pt x="12585" y="21026"/>
                </a:cubicBezTo>
                <a:lnTo>
                  <a:pt x="19817" y="17268"/>
                </a:lnTo>
                <a:cubicBezTo>
                  <a:pt x="20922" y="16693"/>
                  <a:pt x="21600" y="15633"/>
                  <a:pt x="21599" y="14485"/>
                </a:cubicBezTo>
                <a:lnTo>
                  <a:pt x="21599" y="6968"/>
                </a:lnTo>
                <a:cubicBezTo>
                  <a:pt x="21599" y="5820"/>
                  <a:pt x="20922" y="4762"/>
                  <a:pt x="19817" y="4189"/>
                </a:cubicBezTo>
                <a:lnTo>
                  <a:pt x="12585" y="430"/>
                </a:lnTo>
                <a:cubicBezTo>
                  <a:pt x="12033" y="144"/>
                  <a:pt x="11416" y="0"/>
                  <a:pt x="10800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A379A-8D40-433D-8F21-7CD6C999A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Descrierea scurtă a companiei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71A2CE-1801-461B-AA1D-C85773B322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2B84EB-9DAC-4F8E-A9B8-E070BB6CB4F6}"/>
              </a:ext>
            </a:extLst>
          </p:cNvPr>
          <p:cNvSpPr txBox="1"/>
          <p:nvPr/>
        </p:nvSpPr>
        <p:spPr>
          <a:xfrm>
            <a:off x="779100" y="1426464"/>
            <a:ext cx="60105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buClr>
                <a:schemeClr val="accent5"/>
              </a:buClr>
              <a:buSzPts val="1600"/>
              <a:buFont typeface="Catamaran Thin"/>
            </a:pPr>
            <a:r>
              <a:rPr lang="ro-RO" sz="2400" dirty="0">
                <a:solidFill>
                  <a:schemeClr val="dk1"/>
                </a:solidFill>
                <a:latin typeface="Catamaran Thin"/>
                <a:cs typeface="Catamaran Thin"/>
                <a:sym typeface="Catamaran Thin"/>
              </a:rPr>
              <a:t>Compania mea se va ocupa de oferirea serviciilor de masaj, pentru persoanele care suferă de dureri sau doar doresc să se simtă mai confortabil.</a:t>
            </a:r>
            <a:endParaRPr lang="en-US" sz="2400" dirty="0">
              <a:solidFill>
                <a:schemeClr val="dk1"/>
              </a:solidFill>
              <a:latin typeface="Catamaran Thin"/>
              <a:cs typeface="Catamaran Thin"/>
              <a:sym typeface="Catamaran Thin"/>
            </a:endParaRPr>
          </a:p>
          <a:p>
            <a:pPr>
              <a:lnSpc>
                <a:spcPct val="115000"/>
              </a:lnSpc>
              <a:buClr>
                <a:schemeClr val="accent5"/>
              </a:buClr>
              <a:buSzPts val="1600"/>
              <a:buFont typeface="Catamaran Thin"/>
            </a:pPr>
            <a:endParaRPr lang="en-US" sz="2400" dirty="0">
              <a:solidFill>
                <a:schemeClr val="dk1"/>
              </a:solidFill>
              <a:latin typeface="Catamaran Thin"/>
              <a:cs typeface="Catamaran Thin"/>
              <a:sym typeface="Catamaran Thin"/>
            </a:endParaRPr>
          </a:p>
        </p:txBody>
      </p:sp>
    </p:spTree>
    <p:extLst>
      <p:ext uri="{BB962C8B-B14F-4D97-AF65-F5344CB8AC3E}">
        <p14:creationId xmlns:p14="http://schemas.microsoft.com/office/powerpoint/2010/main" val="2345241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346E91-12C2-4968-A52F-47815B6A174D}"/>
              </a:ext>
            </a:extLst>
          </p:cNvPr>
          <p:cNvSpPr/>
          <p:nvPr/>
        </p:nvSpPr>
        <p:spPr>
          <a:xfrm>
            <a:off x="6459940" y="2421623"/>
            <a:ext cx="1617259" cy="76427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57495C-5DB2-494D-A274-4C33D753024B}"/>
              </a:ext>
            </a:extLst>
          </p:cNvPr>
          <p:cNvSpPr/>
          <p:nvPr/>
        </p:nvSpPr>
        <p:spPr>
          <a:xfrm>
            <a:off x="3530221" y="2421623"/>
            <a:ext cx="1617259" cy="76427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32C2A6-EA2C-4DD6-8B16-1F983A9418DA}"/>
              </a:ext>
            </a:extLst>
          </p:cNvPr>
          <p:cNvSpPr/>
          <p:nvPr/>
        </p:nvSpPr>
        <p:spPr>
          <a:xfrm>
            <a:off x="600502" y="2421624"/>
            <a:ext cx="1617259" cy="76427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5C1232-6CCB-48BD-A879-0BBA2AD15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Descrierea</a:t>
            </a:r>
            <a:r>
              <a:rPr lang="en-US" dirty="0"/>
              <a:t> </a:t>
            </a:r>
            <a:r>
              <a:rPr lang="en-US" dirty="0" err="1"/>
              <a:t>serviciului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B177C0-0468-43D3-A322-4F83EF4A45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B7F971-E289-4D83-AC2A-4C97DDF1326E}"/>
              </a:ext>
            </a:extLst>
          </p:cNvPr>
          <p:cNvSpPr/>
          <p:nvPr/>
        </p:nvSpPr>
        <p:spPr>
          <a:xfrm>
            <a:off x="3864112" y="1206090"/>
            <a:ext cx="141577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Masaj</a:t>
            </a:r>
            <a:endParaRPr lang="en-US" sz="36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E34A5F-ECC5-4B13-A484-838F79559170}"/>
              </a:ext>
            </a:extLst>
          </p:cNvPr>
          <p:cNvSpPr/>
          <p:nvPr/>
        </p:nvSpPr>
        <p:spPr>
          <a:xfrm>
            <a:off x="779100" y="2100902"/>
            <a:ext cx="1753737" cy="9416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Bun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B8CF35-31F7-4FD8-8A74-B2323F0379B3}"/>
              </a:ext>
            </a:extLst>
          </p:cNvPr>
          <p:cNvSpPr/>
          <p:nvPr/>
        </p:nvSpPr>
        <p:spPr>
          <a:xfrm>
            <a:off x="3695130" y="2100902"/>
            <a:ext cx="1753737" cy="9416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Relaxant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1CA329-56AE-4B01-B7FC-2116A89C5B24}"/>
              </a:ext>
            </a:extLst>
          </p:cNvPr>
          <p:cNvSpPr/>
          <p:nvPr/>
        </p:nvSpPr>
        <p:spPr>
          <a:xfrm>
            <a:off x="6611163" y="2100902"/>
            <a:ext cx="1753737" cy="9416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Intensiv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32870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0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GANTT CHART</a:t>
            </a:r>
            <a:endParaRPr dirty="0"/>
          </a:p>
        </p:txBody>
      </p:sp>
      <p:sp>
        <p:nvSpPr>
          <p:cNvPr id="630" name="Google Shape;630;p4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graphicFrame>
        <p:nvGraphicFramePr>
          <p:cNvPr id="631" name="Google Shape;631;p40"/>
          <p:cNvGraphicFramePr/>
          <p:nvPr>
            <p:extLst>
              <p:ext uri="{D42A27DB-BD31-4B8C-83A1-F6EECF244321}">
                <p14:modId xmlns:p14="http://schemas.microsoft.com/office/powerpoint/2010/main" val="4214385784"/>
              </p:ext>
            </p:extLst>
          </p:nvPr>
        </p:nvGraphicFramePr>
        <p:xfrm>
          <a:off x="237589" y="1438511"/>
          <a:ext cx="6419125" cy="2176650"/>
        </p:xfrm>
        <a:graphic>
          <a:graphicData uri="http://schemas.openxmlformats.org/drawingml/2006/table">
            <a:tbl>
              <a:tblPr>
                <a:noFill/>
                <a:tableStyleId>{93EC2C83-4F27-46E9-AB52-EA9CB43B9D6F}</a:tableStyleId>
              </a:tblPr>
              <a:tblGrid>
                <a:gridCol w="105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10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800" b="1" dirty="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Săptămâna</a:t>
                      </a:r>
                      <a:r>
                        <a:rPr lang="en" sz="800" b="1" dirty="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 1</a:t>
                      </a:r>
                      <a:endParaRPr sz="800" b="1" dirty="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800" b="1" dirty="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Săpyămâna</a:t>
                      </a:r>
                      <a:r>
                        <a:rPr lang="en" sz="800" b="1" dirty="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 2</a:t>
                      </a:r>
                      <a:endParaRPr sz="800" b="1" dirty="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1</a:t>
                      </a:r>
                      <a:endParaRPr sz="80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2</a:t>
                      </a:r>
                      <a:endParaRPr sz="80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3</a:t>
                      </a:r>
                      <a:endParaRPr sz="80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4</a:t>
                      </a:r>
                      <a:endParaRPr sz="80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5</a:t>
                      </a:r>
                      <a:endParaRPr sz="80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6</a:t>
                      </a:r>
                      <a:endParaRPr sz="80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7</a:t>
                      </a:r>
                      <a:endParaRPr sz="80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8</a:t>
                      </a:r>
                      <a:endParaRPr sz="80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9</a:t>
                      </a:r>
                      <a:endParaRPr sz="80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10</a:t>
                      </a:r>
                      <a:endParaRPr sz="80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11</a:t>
                      </a:r>
                      <a:endParaRPr sz="80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12</a:t>
                      </a:r>
                      <a:endParaRPr sz="80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13</a:t>
                      </a:r>
                      <a:endParaRPr sz="80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14</a:t>
                      </a:r>
                      <a:endParaRPr sz="80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Task 1</a:t>
                      </a:r>
                      <a:endParaRPr sz="800" dirty="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Task 2</a:t>
                      </a:r>
                      <a:endParaRPr sz="80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◆</a:t>
                      </a: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Task 3</a:t>
                      </a:r>
                      <a:endParaRPr sz="80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Task 4</a:t>
                      </a:r>
                      <a:endParaRPr sz="80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◆</a:t>
                      </a: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Task 5</a:t>
                      </a:r>
                      <a:endParaRPr sz="800">
                        <a:solidFill>
                          <a:schemeClr val="dk2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◆</a:t>
                      </a: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lt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632" name="Google Shape;632;p40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633" name="Google Shape;633;p40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34" name="Google Shape;634;p40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35" name="Google Shape;635;p40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36" name="Google Shape;636;p40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DD0121B-8C58-46C4-9374-46CA69684394}"/>
              </a:ext>
            </a:extLst>
          </p:cNvPr>
          <p:cNvSpPr/>
          <p:nvPr/>
        </p:nvSpPr>
        <p:spPr>
          <a:xfrm>
            <a:off x="6786992" y="330465"/>
            <a:ext cx="2357009" cy="44825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Legendă:</a:t>
            </a:r>
          </a:p>
          <a:p>
            <a:pPr algn="just"/>
            <a:r>
              <a:rPr lang="ro-RO" dirty="0"/>
              <a:t>1 - Achiziționarea unui spațiu în care poate fi amplasată întreprinderea propriu zisă</a:t>
            </a:r>
          </a:p>
          <a:p>
            <a:pPr algn="just"/>
            <a:endParaRPr lang="ro-RO" dirty="0"/>
          </a:p>
          <a:p>
            <a:r>
              <a:rPr lang="ro-RO" dirty="0"/>
              <a:t>2 - Aducerea în ordine a încăperii achiziționate</a:t>
            </a:r>
          </a:p>
          <a:p>
            <a:r>
              <a:rPr lang="ro-RO" dirty="0"/>
              <a:t> </a:t>
            </a:r>
          </a:p>
          <a:p>
            <a:r>
              <a:rPr lang="ro-RO" dirty="0"/>
              <a:t>3 - Amplasarea mobilerului necesar pentru prestarea serviciilor </a:t>
            </a:r>
          </a:p>
          <a:p>
            <a:endParaRPr lang="ro-RO" dirty="0"/>
          </a:p>
          <a:p>
            <a:r>
              <a:rPr lang="ro-RO" dirty="0"/>
              <a:t>4 - Găsirea muncitorilor</a:t>
            </a:r>
          </a:p>
          <a:p>
            <a:endParaRPr lang="ro-RO" dirty="0"/>
          </a:p>
          <a:p>
            <a:r>
              <a:rPr lang="ro-RO" dirty="0"/>
              <a:t>5 - Monitorizarea activiății companiei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1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Analiza SWOT</a:t>
            </a:r>
            <a:endParaRPr dirty="0"/>
          </a:p>
        </p:txBody>
      </p:sp>
      <p:sp>
        <p:nvSpPr>
          <p:cNvPr id="642" name="Google Shape;642;p4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643" name="Google Shape;643;p41"/>
          <p:cNvSpPr/>
          <p:nvPr/>
        </p:nvSpPr>
        <p:spPr>
          <a:xfrm>
            <a:off x="779100" y="1550050"/>
            <a:ext cx="3683400" cy="1387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137160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Puncte</a:t>
            </a:r>
            <a:r>
              <a:rPr lang="en-US" b="1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puternice</a:t>
            </a:r>
            <a:endParaRPr b="1" dirty="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285750" lvl="0" indent="-285750">
              <a:lnSpc>
                <a:spcPct val="115000"/>
              </a:lnSpc>
              <a:buClr>
                <a:schemeClr val="accent5"/>
              </a:buClr>
              <a:buSzPts val="1600"/>
              <a:buFont typeface="Arial" panose="020B0604020202020204" pitchFamily="34" charset="0"/>
              <a:buChar char="•"/>
            </a:pPr>
            <a:r>
              <a:rPr lang="ro-RO" dirty="0">
                <a:solidFill>
                  <a:schemeClr val="dk1"/>
                </a:solidFill>
                <a:latin typeface="Catamaran Thin"/>
                <a:cs typeface="Catamaran Thin"/>
                <a:sym typeface="Catamaran Thin"/>
              </a:rPr>
              <a:t>Personal calificat;</a:t>
            </a:r>
            <a:endParaRPr lang="en-US" dirty="0">
              <a:solidFill>
                <a:schemeClr val="dk1"/>
              </a:solidFill>
              <a:latin typeface="Catamaran Thin"/>
              <a:cs typeface="Catamaran Thin"/>
              <a:sym typeface="Catamaran Thin"/>
            </a:endParaRPr>
          </a:p>
          <a:p>
            <a:pPr marL="285750" lvl="0" indent="-285750">
              <a:lnSpc>
                <a:spcPct val="115000"/>
              </a:lnSpc>
              <a:buClr>
                <a:schemeClr val="accent5"/>
              </a:buClr>
              <a:buSzPts val="1600"/>
              <a:buFont typeface="Arial" panose="020B0604020202020204" pitchFamily="34" charset="0"/>
              <a:buChar char="•"/>
            </a:pPr>
            <a:r>
              <a:rPr lang="ro-RO" dirty="0">
                <a:solidFill>
                  <a:schemeClr val="dk1"/>
                </a:solidFill>
                <a:latin typeface="Catamaran Thin"/>
                <a:cs typeface="Catamaran Thin"/>
                <a:sym typeface="Catamaran Thin"/>
              </a:rPr>
              <a:t>Preț accesibil;</a:t>
            </a:r>
            <a:endParaRPr lang="en-US" dirty="0">
              <a:solidFill>
                <a:schemeClr val="dk1"/>
              </a:solidFill>
              <a:latin typeface="Catamaran Thin"/>
              <a:cs typeface="Catamaran Thin"/>
              <a:sym typeface="Catamaran Thin"/>
            </a:endParaRPr>
          </a:p>
          <a:p>
            <a:pPr marL="285750" lvl="0" indent="-285750">
              <a:lnSpc>
                <a:spcPct val="115000"/>
              </a:lnSpc>
              <a:buClr>
                <a:schemeClr val="accent5"/>
              </a:buClr>
              <a:buSzPts val="1600"/>
              <a:buFont typeface="Arial" panose="020B0604020202020204" pitchFamily="34" charset="0"/>
              <a:buChar char="•"/>
            </a:pPr>
            <a:r>
              <a:rPr lang="ro-RO" dirty="0">
                <a:solidFill>
                  <a:schemeClr val="dk1"/>
                </a:solidFill>
                <a:latin typeface="Catamaran Thin"/>
                <a:cs typeface="Catamaran Thin"/>
                <a:sym typeface="Catamaran Thin"/>
              </a:rPr>
              <a:t>Amplasarea companiei în centru;</a:t>
            </a:r>
            <a:endParaRPr lang="en-US" dirty="0">
              <a:solidFill>
                <a:schemeClr val="dk1"/>
              </a:solidFill>
              <a:latin typeface="Catamaran Thin"/>
              <a:ea typeface="Calibri" panose="020F0502020204030204" pitchFamily="34" charset="0"/>
              <a:cs typeface="Catamaran Thin"/>
              <a:sym typeface="Catamaran Thin"/>
            </a:endParaRPr>
          </a:p>
        </p:txBody>
      </p:sp>
      <p:sp>
        <p:nvSpPr>
          <p:cNvPr id="644" name="Google Shape;644;p41"/>
          <p:cNvSpPr/>
          <p:nvPr/>
        </p:nvSpPr>
        <p:spPr>
          <a:xfrm>
            <a:off x="4614885" y="1550050"/>
            <a:ext cx="3683400" cy="1387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1371600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 err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Puncte</a:t>
            </a:r>
            <a:r>
              <a:rPr lang="en-US" b="1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slabe</a:t>
            </a:r>
            <a:endParaRPr b="1" dirty="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342900" lvl="0" indent="-342900">
              <a:lnSpc>
                <a:spcPct val="115000"/>
              </a:lnSpc>
              <a:buClr>
                <a:schemeClr val="accent5"/>
              </a:buClr>
              <a:buSzPts val="1600"/>
              <a:buFont typeface="Arial" panose="020B0604020202020204" pitchFamily="34" charset="0"/>
              <a:buChar char="•"/>
            </a:pPr>
            <a:r>
              <a:rPr lang="ro-RO" dirty="0">
                <a:solidFill>
                  <a:schemeClr val="dk1"/>
                </a:solidFill>
                <a:latin typeface="Catamaran Thin"/>
                <a:cs typeface="Catamaran Thin"/>
                <a:sym typeface="Catamaran Thin"/>
              </a:rPr>
              <a:t>Sediul nu se află în aproprierea furnizorilor;</a:t>
            </a:r>
            <a:endParaRPr lang="en-US" dirty="0">
              <a:solidFill>
                <a:schemeClr val="dk1"/>
              </a:solidFill>
              <a:latin typeface="Catamaran Thin"/>
              <a:cs typeface="Catamaran Thin"/>
              <a:sym typeface="Catamaran Thin"/>
            </a:endParaRPr>
          </a:p>
          <a:p>
            <a:pPr marL="342900" lvl="0" indent="-342900">
              <a:lnSpc>
                <a:spcPct val="115000"/>
              </a:lnSpc>
              <a:buClr>
                <a:schemeClr val="accent5"/>
              </a:buClr>
              <a:buSzPts val="1600"/>
              <a:buFont typeface="Arial" panose="020B0604020202020204" pitchFamily="34" charset="0"/>
              <a:buChar char="•"/>
            </a:pPr>
            <a:r>
              <a:rPr lang="ro-RO" dirty="0">
                <a:solidFill>
                  <a:schemeClr val="dk1"/>
                </a:solidFill>
                <a:latin typeface="Catamaran Thin"/>
                <a:cs typeface="Catamaran Thin"/>
                <a:sym typeface="Catamaran Thin"/>
              </a:rPr>
              <a:t>Lipsă de experiență;</a:t>
            </a:r>
            <a:endParaRPr lang="en-US" dirty="0">
              <a:solidFill>
                <a:schemeClr val="dk1"/>
              </a:solidFill>
              <a:latin typeface="Catamaran Thin"/>
              <a:ea typeface="Calibri" panose="020F0502020204030204" pitchFamily="34" charset="0"/>
              <a:cs typeface="Catamaran Thin"/>
              <a:sym typeface="Catamaran Thin"/>
            </a:endParaRPr>
          </a:p>
        </p:txBody>
      </p:sp>
      <p:sp>
        <p:nvSpPr>
          <p:cNvPr id="645" name="Google Shape;645;p41"/>
          <p:cNvSpPr/>
          <p:nvPr/>
        </p:nvSpPr>
        <p:spPr>
          <a:xfrm>
            <a:off x="765452" y="3089941"/>
            <a:ext cx="3683400" cy="1387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1371600" bIns="91425" anchor="b" anchorCtr="0">
            <a:noAutofit/>
          </a:bodyPr>
          <a:lstStyle/>
          <a:p>
            <a:pPr marL="285750" lvl="0" indent="-285750">
              <a:lnSpc>
                <a:spcPct val="115000"/>
              </a:lnSpc>
              <a:buClr>
                <a:schemeClr val="accent5"/>
              </a:buClr>
              <a:buSzPts val="1600"/>
              <a:buFont typeface="Arial" panose="020B0604020202020204" pitchFamily="34" charset="0"/>
              <a:buChar char="•"/>
            </a:pPr>
            <a:r>
              <a:rPr lang="ro-RO" dirty="0">
                <a:solidFill>
                  <a:schemeClr val="dk1"/>
                </a:solidFill>
                <a:latin typeface="Catamaran Thin"/>
                <a:cs typeface="Catamaran Thin"/>
                <a:sym typeface="Catamaran Thin"/>
              </a:rPr>
              <a:t>Mărirea volumului de vânzări;</a:t>
            </a:r>
            <a:endParaRPr lang="en-US" dirty="0">
              <a:solidFill>
                <a:schemeClr val="dk1"/>
              </a:solidFill>
              <a:latin typeface="Catamaran Thin"/>
              <a:cs typeface="Catamaran Thin"/>
              <a:sym typeface="Catamaran Thin"/>
            </a:endParaRPr>
          </a:p>
          <a:p>
            <a:pPr marL="285750" lvl="0" indent="-285750">
              <a:lnSpc>
                <a:spcPct val="115000"/>
              </a:lnSpc>
              <a:buClr>
                <a:schemeClr val="accent5"/>
              </a:buClr>
              <a:buSzPts val="1600"/>
              <a:buFont typeface="Arial" panose="020B0604020202020204" pitchFamily="34" charset="0"/>
              <a:buChar char="•"/>
            </a:pPr>
            <a:r>
              <a:rPr lang="ro-RO" dirty="0">
                <a:solidFill>
                  <a:schemeClr val="dk1"/>
                </a:solidFill>
                <a:latin typeface="Catamaran Thin"/>
                <a:cs typeface="Catamaran Thin"/>
                <a:sym typeface="Catamaran Thin"/>
              </a:rPr>
              <a:t>Atragerea furnizorilor;</a:t>
            </a:r>
            <a:endParaRPr lang="en-US" dirty="0">
              <a:solidFill>
                <a:schemeClr val="dk1"/>
              </a:solidFill>
              <a:latin typeface="Catamaran Thin"/>
              <a:ea typeface="Calibri" panose="020F0502020204030204" pitchFamily="34" charset="0"/>
              <a:cs typeface="Catamaran Thin"/>
              <a:sym typeface="Catamaran Thin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 err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Oportunit</a:t>
            </a:r>
            <a:r>
              <a:rPr lang="ro-RO" b="1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ăți</a:t>
            </a:r>
            <a:endParaRPr dirty="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46" name="Google Shape;646;p41"/>
          <p:cNvSpPr/>
          <p:nvPr/>
        </p:nvSpPr>
        <p:spPr>
          <a:xfrm>
            <a:off x="4614885" y="3089941"/>
            <a:ext cx="3683400" cy="1387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1371600" tIns="91425" rIns="91425" bIns="91425" anchor="b" anchorCtr="0">
            <a:noAutofit/>
          </a:bodyPr>
          <a:lstStyle/>
          <a:p>
            <a:pPr marL="285750" lvl="0" indent="-285750">
              <a:lnSpc>
                <a:spcPct val="115000"/>
              </a:lnSpc>
              <a:buClr>
                <a:schemeClr val="accent5"/>
              </a:buClr>
              <a:buSzPts val="1600"/>
              <a:buFont typeface="Arial" panose="020B0604020202020204" pitchFamily="34" charset="0"/>
              <a:buChar char="•"/>
            </a:pPr>
            <a:r>
              <a:rPr lang="ro-RO" dirty="0">
                <a:solidFill>
                  <a:schemeClr val="dk1"/>
                </a:solidFill>
                <a:latin typeface="Catamaran Thin"/>
                <a:cs typeface="Catamaran Thin"/>
                <a:sym typeface="Catamaran Thin"/>
              </a:rPr>
              <a:t>Concurența puternică;</a:t>
            </a:r>
            <a:endParaRPr lang="en-US" dirty="0">
              <a:solidFill>
                <a:schemeClr val="dk1"/>
              </a:solidFill>
              <a:latin typeface="Catamaran Thin"/>
              <a:cs typeface="Catamaran Thin"/>
              <a:sym typeface="Catamaran Thin"/>
            </a:endParaRPr>
          </a:p>
          <a:p>
            <a:pPr marL="285750" lvl="0" indent="-285750">
              <a:lnSpc>
                <a:spcPct val="115000"/>
              </a:lnSpc>
              <a:buClr>
                <a:schemeClr val="accent5"/>
              </a:buClr>
              <a:buSzPts val="1600"/>
              <a:buFont typeface="Arial" panose="020B0604020202020204" pitchFamily="34" charset="0"/>
              <a:buChar char="•"/>
            </a:pPr>
            <a:r>
              <a:rPr lang="ro-RO" dirty="0">
                <a:solidFill>
                  <a:schemeClr val="dk1"/>
                </a:solidFill>
                <a:latin typeface="Catamaran Thin"/>
                <a:cs typeface="Catamaran Thin"/>
                <a:sym typeface="Catamaran Thin"/>
              </a:rPr>
              <a:t>Lipsa clienților;</a:t>
            </a:r>
            <a:endParaRPr lang="en-US" dirty="0">
              <a:solidFill>
                <a:schemeClr val="dk1"/>
              </a:solidFill>
              <a:latin typeface="Catamaran Thin"/>
              <a:ea typeface="Calibri" panose="020F0502020204030204" pitchFamily="34" charset="0"/>
              <a:cs typeface="Catamaran Thin"/>
              <a:sym typeface="Catamaran Thin"/>
            </a:endParaRP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 err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Riscuri</a:t>
            </a:r>
            <a:endParaRPr dirty="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47" name="Google Shape;647;p41"/>
          <p:cNvSpPr/>
          <p:nvPr/>
        </p:nvSpPr>
        <p:spPr>
          <a:xfrm>
            <a:off x="3405163" y="1878422"/>
            <a:ext cx="2116500" cy="21165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41"/>
          <p:cNvSpPr/>
          <p:nvPr/>
        </p:nvSpPr>
        <p:spPr>
          <a:xfrm rot="5400000">
            <a:off x="3557886" y="1878422"/>
            <a:ext cx="2116500" cy="21165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41"/>
          <p:cNvSpPr/>
          <p:nvPr/>
        </p:nvSpPr>
        <p:spPr>
          <a:xfrm rot="10800000">
            <a:off x="3557886" y="2032323"/>
            <a:ext cx="2116500" cy="21165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41"/>
          <p:cNvSpPr/>
          <p:nvPr/>
        </p:nvSpPr>
        <p:spPr>
          <a:xfrm rot="-5400000">
            <a:off x="3405163" y="2032323"/>
            <a:ext cx="2116500" cy="21165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41"/>
          <p:cNvSpPr/>
          <p:nvPr/>
        </p:nvSpPr>
        <p:spPr>
          <a:xfrm>
            <a:off x="3892462" y="2319932"/>
            <a:ext cx="314767" cy="40074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Arial"/>
              </a:rPr>
              <a:t>S</a:t>
            </a:r>
          </a:p>
        </p:txBody>
      </p:sp>
      <p:sp>
        <p:nvSpPr>
          <p:cNvPr id="652" name="Google Shape;652;p41"/>
          <p:cNvSpPr/>
          <p:nvPr/>
        </p:nvSpPr>
        <p:spPr>
          <a:xfrm>
            <a:off x="4781831" y="2326691"/>
            <a:ext cx="507846" cy="38722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Arial"/>
              </a:rPr>
              <a:t>W</a:t>
            </a:r>
          </a:p>
        </p:txBody>
      </p:sp>
      <p:sp>
        <p:nvSpPr>
          <p:cNvPr id="653" name="Google Shape;653;p41"/>
          <p:cNvSpPr/>
          <p:nvPr/>
        </p:nvSpPr>
        <p:spPr>
          <a:xfrm>
            <a:off x="3862175" y="3288767"/>
            <a:ext cx="375341" cy="40020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Arial"/>
              </a:rPr>
              <a:t>O</a:t>
            </a:r>
          </a:p>
        </p:txBody>
      </p:sp>
      <p:sp>
        <p:nvSpPr>
          <p:cNvPr id="654" name="Google Shape;654;p41"/>
          <p:cNvSpPr/>
          <p:nvPr/>
        </p:nvSpPr>
        <p:spPr>
          <a:xfrm>
            <a:off x="4881886" y="3295527"/>
            <a:ext cx="307737" cy="38722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Arial"/>
              </a:rPr>
              <a:t>T</a:t>
            </a:r>
          </a:p>
        </p:txBody>
      </p:sp>
      <p:grpSp>
        <p:nvGrpSpPr>
          <p:cNvPr id="655" name="Google Shape;655;p41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656" name="Google Shape;656;p41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57" name="Google Shape;657;p41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58" name="Google Shape;658;p41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59" name="Google Shape;659;p41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Atragerea consumatorilor</a:t>
            </a:r>
            <a:endParaRPr dirty="0"/>
          </a:p>
        </p:txBody>
      </p:sp>
      <p:sp>
        <p:nvSpPr>
          <p:cNvPr id="386" name="Google Shape;386;p2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grpSp>
        <p:nvGrpSpPr>
          <p:cNvPr id="387" name="Google Shape;387;p28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388" name="Google Shape;388;p28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9" name="Google Shape;389;p28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0" name="Google Shape;390;p28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1" name="Google Shape;391;p28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392" name="Google Shape;392;p28"/>
          <p:cNvGrpSpPr/>
          <p:nvPr/>
        </p:nvGrpSpPr>
        <p:grpSpPr>
          <a:xfrm>
            <a:off x="245709" y="2654906"/>
            <a:ext cx="2635657" cy="1151444"/>
            <a:chOff x="323513" y="1986800"/>
            <a:chExt cx="2952125" cy="1289700"/>
          </a:xfrm>
        </p:grpSpPr>
        <p:sp>
          <p:nvSpPr>
            <p:cNvPr id="393" name="Google Shape;393;p28"/>
            <p:cNvSpPr txBox="1"/>
            <p:nvPr/>
          </p:nvSpPr>
          <p:spPr>
            <a:xfrm>
              <a:off x="323513" y="1986800"/>
              <a:ext cx="2124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RO" sz="1200" b="1" dirty="0">
                  <a:solidFill>
                    <a:schemeClr val="dk1"/>
                  </a:solidFill>
                  <a:latin typeface="Catamaran"/>
                  <a:ea typeface="Catamaran"/>
                  <a:cs typeface="Catamaran"/>
                  <a:sym typeface="Catamaran"/>
                </a:rPr>
                <a:t>Prima vizită a consumatorului</a:t>
              </a:r>
              <a:endParaRPr sz="1200" b="1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cxnSp>
          <p:nvCxnSpPr>
            <p:cNvPr id="394" name="Google Shape;394;p28"/>
            <p:cNvCxnSpPr/>
            <p:nvPr/>
          </p:nvCxnSpPr>
          <p:spPr>
            <a:xfrm rot="10800000">
              <a:off x="2642038" y="2647950"/>
              <a:ext cx="6336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395" name="Google Shape;395;p28"/>
          <p:cNvGrpSpPr/>
          <p:nvPr/>
        </p:nvGrpSpPr>
        <p:grpSpPr>
          <a:xfrm>
            <a:off x="4608220" y="1827771"/>
            <a:ext cx="3223588" cy="1151444"/>
            <a:chOff x="5209838" y="1060350"/>
            <a:chExt cx="3610650" cy="1289700"/>
          </a:xfrm>
        </p:grpSpPr>
        <p:sp>
          <p:nvSpPr>
            <p:cNvPr id="396" name="Google Shape;396;p28"/>
            <p:cNvSpPr txBox="1"/>
            <p:nvPr/>
          </p:nvSpPr>
          <p:spPr>
            <a:xfrm>
              <a:off x="6696488" y="1060350"/>
              <a:ext cx="2124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RO" sz="1200" b="1" dirty="0">
                  <a:solidFill>
                    <a:schemeClr val="dk1"/>
                  </a:solidFill>
                  <a:latin typeface="Catamaran"/>
                  <a:ea typeface="Catamaran"/>
                  <a:cs typeface="Catamaran"/>
                  <a:sym typeface="Catamaran"/>
                </a:rPr>
                <a:t>Consumatorul propune la alți consumatori să încerce</a:t>
              </a:r>
              <a:endParaRPr sz="1200" b="1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cxnSp>
          <p:nvCxnSpPr>
            <p:cNvPr id="397" name="Google Shape;397;p28"/>
            <p:cNvCxnSpPr/>
            <p:nvPr/>
          </p:nvCxnSpPr>
          <p:spPr>
            <a:xfrm>
              <a:off x="5209838" y="1705200"/>
              <a:ext cx="1286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398" name="Google Shape;398;p28"/>
          <p:cNvGrpSpPr/>
          <p:nvPr/>
        </p:nvGrpSpPr>
        <p:grpSpPr>
          <a:xfrm>
            <a:off x="4608220" y="3577749"/>
            <a:ext cx="3223588" cy="1151444"/>
            <a:chOff x="5209838" y="3020450"/>
            <a:chExt cx="3610650" cy="1289700"/>
          </a:xfrm>
        </p:grpSpPr>
        <p:sp>
          <p:nvSpPr>
            <p:cNvPr id="399" name="Google Shape;399;p28"/>
            <p:cNvSpPr txBox="1"/>
            <p:nvPr/>
          </p:nvSpPr>
          <p:spPr>
            <a:xfrm>
              <a:off x="6696488" y="3020450"/>
              <a:ext cx="2124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RO" sz="1200" b="1" dirty="0">
                  <a:solidFill>
                    <a:schemeClr val="dk1"/>
                  </a:solidFill>
                  <a:latin typeface="Catamaran"/>
                  <a:ea typeface="Catamaran"/>
                  <a:cs typeface="Catamaran"/>
                  <a:sym typeface="Catamaran"/>
                </a:rPr>
                <a:t>Totul îi place, datorită calității</a:t>
              </a:r>
              <a:endParaRPr sz="1200" b="1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cxnSp>
          <p:nvCxnSpPr>
            <p:cNvPr id="400" name="Google Shape;400;p28"/>
            <p:cNvCxnSpPr/>
            <p:nvPr/>
          </p:nvCxnSpPr>
          <p:spPr>
            <a:xfrm>
              <a:off x="5209838" y="3648300"/>
              <a:ext cx="1286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401" name="Google Shape;401;p28"/>
          <p:cNvGrpSpPr/>
          <p:nvPr/>
        </p:nvGrpSpPr>
        <p:grpSpPr>
          <a:xfrm>
            <a:off x="2333701" y="1531461"/>
            <a:ext cx="3405884" cy="3384245"/>
            <a:chOff x="2662213" y="676344"/>
            <a:chExt cx="3814835" cy="3790597"/>
          </a:xfrm>
        </p:grpSpPr>
        <p:sp>
          <p:nvSpPr>
            <p:cNvPr id="402" name="Google Shape;402;p28"/>
            <p:cNvSpPr/>
            <p:nvPr/>
          </p:nvSpPr>
          <p:spPr>
            <a:xfrm rot="3600185">
              <a:off x="3169983" y="1184511"/>
              <a:ext cx="2774659" cy="2774659"/>
            </a:xfrm>
            <a:prstGeom prst="blockArc">
              <a:avLst>
                <a:gd name="adj1" fmla="val 12622480"/>
                <a:gd name="adj2" fmla="val 19781569"/>
                <a:gd name="adj3" fmla="val 2077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8"/>
            <p:cNvSpPr/>
            <p:nvPr/>
          </p:nvSpPr>
          <p:spPr>
            <a:xfrm rot="10800000">
              <a:off x="3183490" y="1163229"/>
              <a:ext cx="2774700" cy="2774700"/>
            </a:xfrm>
            <a:prstGeom prst="blockArc">
              <a:avLst>
                <a:gd name="adj1" fmla="val 12622480"/>
                <a:gd name="adj2" fmla="val 19662822"/>
                <a:gd name="adj3" fmla="val 20729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8"/>
            <p:cNvSpPr/>
            <p:nvPr/>
          </p:nvSpPr>
          <p:spPr>
            <a:xfrm rot="-3600185">
              <a:off x="3194618" y="1184114"/>
              <a:ext cx="2774659" cy="2774659"/>
            </a:xfrm>
            <a:prstGeom prst="blockArc">
              <a:avLst>
                <a:gd name="adj1" fmla="val 12622480"/>
                <a:gd name="adj2" fmla="val 19703271"/>
                <a:gd name="adj3" fmla="val 20851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5" name="Google Shape;405;p28"/>
            <p:cNvGrpSpPr/>
            <p:nvPr/>
          </p:nvGrpSpPr>
          <p:grpSpPr>
            <a:xfrm rot="-7200165">
              <a:off x="3337679" y="2826785"/>
              <a:ext cx="585011" cy="585536"/>
              <a:chOff x="1967628" y="812211"/>
              <a:chExt cx="588000" cy="588000"/>
            </a:xfrm>
          </p:grpSpPr>
          <p:sp>
            <p:nvSpPr>
              <p:cNvPr id="406" name="Google Shape;406;p28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name="adj1" fmla="val 6190354"/>
                  <a:gd name="adj2" fmla="val 14996165"/>
                </a:avLst>
              </a:prstGeom>
              <a:solidFill>
                <a:schemeClr val="accent6"/>
              </a:solidFill>
              <a:ln>
                <a:noFill/>
              </a:ln>
              <a:effectLst>
                <a:outerShdw blurRad="142875" algn="bl" rotWithShape="0">
                  <a:srgbClr val="000000">
                    <a:alpha val="43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28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name="adj1" fmla="val 4028252"/>
                  <a:gd name="adj2" fmla="val 17183677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8" name="Google Shape;408;p28"/>
            <p:cNvGrpSpPr/>
            <p:nvPr/>
          </p:nvGrpSpPr>
          <p:grpSpPr>
            <a:xfrm>
              <a:off x="4264097" y="1180331"/>
              <a:ext cx="585001" cy="585530"/>
              <a:chOff x="1970048" y="811613"/>
              <a:chExt cx="588000" cy="588000"/>
            </a:xfrm>
          </p:grpSpPr>
          <p:sp>
            <p:nvSpPr>
              <p:cNvPr id="409" name="Google Shape;409;p28"/>
              <p:cNvSpPr/>
              <p:nvPr/>
            </p:nvSpPr>
            <p:spPr>
              <a:xfrm rot="39023">
                <a:off x="1973329" y="814894"/>
                <a:ext cx="581437" cy="581437"/>
              </a:xfrm>
              <a:prstGeom prst="pie">
                <a:avLst>
                  <a:gd name="adj1" fmla="val 6190354"/>
                  <a:gd name="adj2" fmla="val 14996165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rgbClr val="000000">
                    <a:alpha val="43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28"/>
              <p:cNvSpPr/>
              <p:nvPr/>
            </p:nvSpPr>
            <p:spPr>
              <a:xfrm rot="10800000">
                <a:off x="1973295" y="814927"/>
                <a:ext cx="581400" cy="581400"/>
              </a:xfrm>
              <a:prstGeom prst="pie">
                <a:avLst>
                  <a:gd name="adj1" fmla="val 4028252"/>
                  <a:gd name="adj2" fmla="val 17183677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1" name="Google Shape;411;p28"/>
            <p:cNvGrpSpPr/>
            <p:nvPr/>
          </p:nvGrpSpPr>
          <p:grpSpPr>
            <a:xfrm rot="7200165">
              <a:off x="5229930" y="2804716"/>
              <a:ext cx="585011" cy="585536"/>
              <a:chOff x="1977085" y="811649"/>
              <a:chExt cx="588000" cy="588000"/>
            </a:xfrm>
          </p:grpSpPr>
          <p:sp>
            <p:nvSpPr>
              <p:cNvPr id="412" name="Google Shape;412;p28"/>
              <p:cNvSpPr/>
              <p:nvPr/>
            </p:nvSpPr>
            <p:spPr>
              <a:xfrm rot="39023">
                <a:off x="1980366" y="814930"/>
                <a:ext cx="581437" cy="581437"/>
              </a:xfrm>
              <a:prstGeom prst="pie">
                <a:avLst>
                  <a:gd name="adj1" fmla="val 6190354"/>
                  <a:gd name="adj2" fmla="val 14996165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rgbClr val="000000">
                    <a:alpha val="43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8"/>
              <p:cNvSpPr/>
              <p:nvPr/>
            </p:nvSpPr>
            <p:spPr>
              <a:xfrm rot="10800000">
                <a:off x="1980332" y="814963"/>
                <a:ext cx="581400" cy="581400"/>
              </a:xfrm>
              <a:prstGeom prst="pie">
                <a:avLst>
                  <a:gd name="adj1" fmla="val 4028252"/>
                  <a:gd name="adj2" fmla="val 17183677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4" name="Google Shape;414;p28"/>
            <p:cNvSpPr txBox="1"/>
            <p:nvPr/>
          </p:nvSpPr>
          <p:spPr>
            <a:xfrm>
              <a:off x="4334550" y="1255312"/>
              <a:ext cx="5091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lt1"/>
                  </a:solidFill>
                  <a:latin typeface="Catamaran"/>
                  <a:ea typeface="Catamaran"/>
                  <a:cs typeface="Catamaran"/>
                  <a:sym typeface="Catamaran"/>
                </a:rPr>
                <a:t>03 </a:t>
              </a:r>
              <a:endParaRPr sz="1600" b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415" name="Google Shape;415;p28"/>
            <p:cNvSpPr txBox="1"/>
            <p:nvPr/>
          </p:nvSpPr>
          <p:spPr>
            <a:xfrm>
              <a:off x="3375648" y="2887440"/>
              <a:ext cx="5091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lt1"/>
                  </a:solidFill>
                  <a:latin typeface="Catamaran"/>
                  <a:ea typeface="Catamaran"/>
                  <a:cs typeface="Catamaran"/>
                  <a:sym typeface="Catamaran"/>
                </a:rPr>
                <a:t>01 </a:t>
              </a:r>
              <a:endParaRPr sz="1600" b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416" name="Google Shape;416;p28"/>
            <p:cNvSpPr txBox="1"/>
            <p:nvPr/>
          </p:nvSpPr>
          <p:spPr>
            <a:xfrm>
              <a:off x="5281877" y="2857865"/>
              <a:ext cx="5091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lt1"/>
                  </a:solidFill>
                  <a:latin typeface="Catamaran"/>
                  <a:ea typeface="Catamaran"/>
                  <a:cs typeface="Catamaran"/>
                  <a:sym typeface="Catamaran"/>
                </a:rPr>
                <a:t>02 </a:t>
              </a:r>
              <a:endParaRPr sz="1600" b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3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Structura organizatorică</a:t>
            </a:r>
            <a:endParaRPr dirty="0"/>
          </a:p>
        </p:txBody>
      </p:sp>
      <p:sp>
        <p:nvSpPr>
          <p:cNvPr id="317" name="Google Shape;317;p2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grpSp>
        <p:nvGrpSpPr>
          <p:cNvPr id="318" name="Google Shape;318;p23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319" name="Google Shape;319;p23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0" name="Google Shape;320;p23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1" name="Google Shape;321;p23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2" name="Google Shape;322;p23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23" name="Google Shape;323;p23"/>
          <p:cNvSpPr/>
          <p:nvPr/>
        </p:nvSpPr>
        <p:spPr>
          <a:xfrm>
            <a:off x="3862783" y="1596788"/>
            <a:ext cx="1637264" cy="67399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0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Smoleac Mihai</a:t>
            </a:r>
            <a:endParaRPr dirty="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5497306" y="2708475"/>
            <a:ext cx="1637264" cy="67399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0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Masajor</a:t>
            </a:r>
            <a:endParaRPr dirty="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2228260" y="2708475"/>
            <a:ext cx="1637264" cy="67399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000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Marketing Director</a:t>
            </a:r>
            <a:endParaRPr dirty="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cxnSp>
        <p:nvCxnSpPr>
          <p:cNvPr id="330" name="Google Shape;330;p23"/>
          <p:cNvCxnSpPr>
            <a:stCxn id="323" idx="2"/>
            <a:endCxn id="324" idx="0"/>
          </p:cNvCxnSpPr>
          <p:nvPr/>
        </p:nvCxnSpPr>
        <p:spPr>
          <a:xfrm rot="16200000" flipH="1">
            <a:off x="5279829" y="1672366"/>
            <a:ext cx="437694" cy="163452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1" name="Google Shape;331;p23"/>
          <p:cNvCxnSpPr>
            <a:stCxn id="325" idx="0"/>
            <a:endCxn id="323" idx="2"/>
          </p:cNvCxnSpPr>
          <p:nvPr/>
        </p:nvCxnSpPr>
        <p:spPr>
          <a:xfrm rot="5400000" flipH="1" flipV="1">
            <a:off x="3645306" y="1672367"/>
            <a:ext cx="437694" cy="163452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"/>
          <p:cNvSpPr txBox="1">
            <a:spLocks noGrp="1"/>
          </p:cNvSpPr>
          <p:nvPr>
            <p:ph type="ctrTitle" idx="4294967295"/>
          </p:nvPr>
        </p:nvSpPr>
        <p:spPr>
          <a:xfrm>
            <a:off x="714200" y="688675"/>
            <a:ext cx="5331758" cy="19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800" dirty="0">
                <a:solidFill>
                  <a:schemeClr val="lt1"/>
                </a:solidFill>
              </a:rPr>
              <a:t>Concluzie</a:t>
            </a:r>
            <a:endParaRPr sz="4800" dirty="0">
              <a:solidFill>
                <a:schemeClr val="lt1"/>
              </a:solidFill>
            </a:endParaRPr>
          </a:p>
        </p:txBody>
      </p:sp>
      <p:sp>
        <p:nvSpPr>
          <p:cNvPr id="252" name="Google Shape;252;p18"/>
          <p:cNvSpPr txBox="1">
            <a:spLocks noGrp="1"/>
          </p:cNvSpPr>
          <p:nvPr>
            <p:ph type="subTitle" idx="4294967295"/>
          </p:nvPr>
        </p:nvSpPr>
        <p:spPr>
          <a:xfrm>
            <a:off x="714200" y="1311475"/>
            <a:ext cx="3118200" cy="130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ro-RO" sz="1800" dirty="0">
                <a:solidFill>
                  <a:schemeClr val="lt2"/>
                </a:solidFill>
              </a:rPr>
              <a:t>Am învățat multe din crearea acestui plan de afaceri care îmi va prinde bine în viața mea de afaceri</a:t>
            </a:r>
            <a:endParaRPr sz="1800" dirty="0">
              <a:solidFill>
                <a:schemeClr val="lt2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12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4303900" y="1851926"/>
            <a:ext cx="4495770" cy="3291579"/>
          </a:xfrm>
          <a:custGeom>
            <a:avLst/>
            <a:gdLst/>
            <a:ahLst/>
            <a:cxnLst/>
            <a:rect l="l" t="t" r="r" b="b"/>
            <a:pathLst>
              <a:path w="21600" h="21385" extrusionOk="0">
                <a:moveTo>
                  <a:pt x="21600" y="21385"/>
                </a:moveTo>
                <a:lnTo>
                  <a:pt x="21600" y="10472"/>
                </a:lnTo>
                <a:cubicBezTo>
                  <a:pt x="21600" y="8748"/>
                  <a:pt x="20920" y="7155"/>
                  <a:pt x="19816" y="6292"/>
                </a:cubicBezTo>
                <a:lnTo>
                  <a:pt x="12585" y="647"/>
                </a:lnTo>
                <a:cubicBezTo>
                  <a:pt x="11480" y="-215"/>
                  <a:pt x="10120" y="-215"/>
                  <a:pt x="9015" y="647"/>
                </a:cubicBezTo>
                <a:lnTo>
                  <a:pt x="1785" y="6292"/>
                </a:lnTo>
                <a:cubicBezTo>
                  <a:pt x="680" y="7154"/>
                  <a:pt x="0" y="8748"/>
                  <a:pt x="0" y="10472"/>
                </a:cubicBezTo>
                <a:lnTo>
                  <a:pt x="0" y="2138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28625" dist="95250" dir="162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6842030" y="4523001"/>
            <a:ext cx="322719" cy="308143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6" name="Google Shape;256;p18"/>
          <p:cNvGrpSpPr/>
          <p:nvPr/>
        </p:nvGrpSpPr>
        <p:grpSpPr>
          <a:xfrm>
            <a:off x="6441204" y="2792568"/>
            <a:ext cx="1382431" cy="1382802"/>
            <a:chOff x="6654650" y="3665275"/>
            <a:chExt cx="409100" cy="409125"/>
          </a:xfrm>
        </p:grpSpPr>
        <p:sp>
          <p:nvSpPr>
            <p:cNvPr id="257" name="Google Shape;257;p18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8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" name="Google Shape;259;p18"/>
          <p:cNvGrpSpPr/>
          <p:nvPr/>
        </p:nvGrpSpPr>
        <p:grpSpPr>
          <a:xfrm rot="1056760">
            <a:off x="5109434" y="3879281"/>
            <a:ext cx="913321" cy="913402"/>
            <a:chOff x="570875" y="4322250"/>
            <a:chExt cx="443300" cy="443325"/>
          </a:xfrm>
        </p:grpSpPr>
        <p:sp>
          <p:nvSpPr>
            <p:cNvPr id="260" name="Google Shape;260;p18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8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18"/>
          <p:cNvSpPr/>
          <p:nvPr/>
        </p:nvSpPr>
        <p:spPr>
          <a:xfrm rot="2466650">
            <a:off x="5211679" y="3060758"/>
            <a:ext cx="448377" cy="428125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8"/>
          <p:cNvSpPr/>
          <p:nvPr/>
        </p:nvSpPr>
        <p:spPr>
          <a:xfrm rot="-1609598">
            <a:off x="5867355" y="3330098"/>
            <a:ext cx="322650" cy="30806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8"/>
          <p:cNvSpPr/>
          <p:nvPr/>
        </p:nvSpPr>
        <p:spPr>
          <a:xfrm rot="2925957">
            <a:off x="7823620" y="3574180"/>
            <a:ext cx="241702" cy="230786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8"/>
          <p:cNvSpPr/>
          <p:nvPr/>
        </p:nvSpPr>
        <p:spPr>
          <a:xfrm rot="-1609409">
            <a:off x="6408419" y="2595964"/>
            <a:ext cx="217724" cy="20789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4"/>
          <p:cNvSpPr txBox="1">
            <a:spLocks noGrp="1"/>
          </p:cNvSpPr>
          <p:nvPr>
            <p:ph type="ctrTitle" idx="4294967295"/>
          </p:nvPr>
        </p:nvSpPr>
        <p:spPr>
          <a:xfrm>
            <a:off x="3381174" y="1054175"/>
            <a:ext cx="4732419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7200" dirty="0">
                <a:solidFill>
                  <a:schemeClr val="lt1"/>
                </a:solidFill>
              </a:rPr>
              <a:t>Mulțumesc</a:t>
            </a:r>
            <a:r>
              <a:rPr lang="en" sz="7200" dirty="0">
                <a:solidFill>
                  <a:schemeClr val="lt1"/>
                </a:solidFill>
              </a:rPr>
              <a:t>!</a:t>
            </a:r>
            <a:endParaRPr sz="7200" dirty="0">
              <a:solidFill>
                <a:schemeClr val="lt1"/>
              </a:solidFill>
            </a:endParaRPr>
          </a:p>
        </p:txBody>
      </p:sp>
      <p:sp>
        <p:nvSpPr>
          <p:cNvPr id="505" name="Google Shape;505;p34"/>
          <p:cNvSpPr txBox="1">
            <a:spLocks noGrp="1"/>
          </p:cNvSpPr>
          <p:nvPr>
            <p:ph type="subTitle" idx="4294967295"/>
          </p:nvPr>
        </p:nvSpPr>
        <p:spPr>
          <a:xfrm>
            <a:off x="3381175" y="2253798"/>
            <a:ext cx="4422300" cy="16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b="1" dirty="0">
                <a:solidFill>
                  <a:schemeClr val="lt1"/>
                </a:solidFill>
              </a:rPr>
              <a:t>Întrebări</a:t>
            </a:r>
            <a:r>
              <a:rPr lang="en" b="1" dirty="0">
                <a:solidFill>
                  <a:schemeClr val="lt1"/>
                </a:solidFill>
              </a:rPr>
              <a:t>?</a:t>
            </a: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o-RO" b="1" dirty="0">
                <a:solidFill>
                  <a:schemeClr val="lt1"/>
                </a:solidFill>
              </a:rPr>
              <a:t>Contactațimă</a:t>
            </a:r>
            <a:r>
              <a:rPr lang="en" b="1" dirty="0">
                <a:solidFill>
                  <a:schemeClr val="lt1"/>
                </a:solidFill>
              </a:rPr>
              <a:t>:</a:t>
            </a:r>
            <a:endParaRPr b="1" dirty="0">
              <a:solidFill>
                <a:schemeClr val="lt1"/>
              </a:solidFill>
            </a:endParaRPr>
          </a:p>
          <a:p>
            <a:pPr marL="457200" lvl="0" indent="-330200" algn="l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⬢"/>
            </a:pPr>
            <a:r>
              <a:rPr lang="en" b="1" dirty="0">
                <a:solidFill>
                  <a:schemeClr val="lt1"/>
                </a:solidFill>
              </a:rPr>
              <a:t>@</a:t>
            </a:r>
            <a:r>
              <a:rPr lang="ro-RO" b="1" dirty="0">
                <a:solidFill>
                  <a:schemeClr val="lt1"/>
                </a:solidFill>
              </a:rPr>
              <a:t>me_hi21</a:t>
            </a:r>
            <a:endParaRPr b="1" dirty="0">
              <a:solidFill>
                <a:schemeClr val="lt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⬢"/>
            </a:pPr>
            <a:r>
              <a:rPr lang="ro-RO" b="1" dirty="0">
                <a:solidFill>
                  <a:schemeClr val="lt1"/>
                </a:solidFill>
              </a:rPr>
              <a:t>mihaismoleac2002</a:t>
            </a:r>
            <a:r>
              <a:rPr lang="en" b="1" dirty="0">
                <a:solidFill>
                  <a:schemeClr val="lt1"/>
                </a:solidFill>
              </a:rPr>
              <a:t>@</a:t>
            </a:r>
            <a:r>
              <a:rPr lang="ro-RO" b="1" dirty="0">
                <a:solidFill>
                  <a:schemeClr val="lt1"/>
                </a:solidFill>
              </a:rPr>
              <a:t>g</a:t>
            </a:r>
            <a:r>
              <a:rPr lang="en" b="1" dirty="0">
                <a:solidFill>
                  <a:schemeClr val="lt1"/>
                </a:solidFill>
              </a:rPr>
              <a:t>mail.</a:t>
            </a:r>
            <a:r>
              <a:rPr lang="ro-RO" b="1" dirty="0">
                <a:solidFill>
                  <a:schemeClr val="lt1"/>
                </a:solidFill>
              </a:rPr>
              <a:t>com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506" name="Google Shape;506;p3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13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83AD18-EA2C-490B-8E73-17C3ACFAA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084" y="779430"/>
            <a:ext cx="1915191" cy="1434545"/>
          </a:xfrm>
          <a:prstGeom prst="hexagon">
            <a:avLst>
              <a:gd name="adj" fmla="val 10667"/>
              <a:gd name="vf" fmla="val 115470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uphin template">
  <a:themeElements>
    <a:clrScheme name="Custom 347">
      <a:dk1>
        <a:srgbClr val="210635"/>
      </a:dk1>
      <a:lt1>
        <a:srgbClr val="FFFFFF"/>
      </a:lt1>
      <a:dk2>
        <a:srgbClr val="89828F"/>
      </a:dk2>
      <a:lt2>
        <a:srgbClr val="F4F3F8"/>
      </a:lt2>
      <a:accent1>
        <a:srgbClr val="725DCF"/>
      </a:accent1>
      <a:accent2>
        <a:srgbClr val="BD6DE0"/>
      </a:accent2>
      <a:accent3>
        <a:srgbClr val="F07249"/>
      </a:accent3>
      <a:accent4>
        <a:srgbClr val="FFB200"/>
      </a:accent4>
      <a:accent5>
        <a:srgbClr val="9D91EE"/>
      </a:accent5>
      <a:accent6>
        <a:srgbClr val="3691E0"/>
      </a:accent6>
      <a:hlink>
        <a:srgbClr val="6A5DC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329</Words>
  <Application>Microsoft Office PowerPoint</Application>
  <PresentationFormat>On-screen Show (16:9)</PresentationFormat>
  <Paragraphs>109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Catamaran</vt:lpstr>
      <vt:lpstr>Catamaran Thin</vt:lpstr>
      <vt:lpstr>Dauphin template</vt:lpstr>
      <vt:lpstr>PLANUL DE AFACERE </vt:lpstr>
      <vt:lpstr>Cuprins</vt:lpstr>
      <vt:lpstr>Despre companie</vt:lpstr>
      <vt:lpstr>PowerPoint Presentation</vt:lpstr>
      <vt:lpstr>MiSage</vt:lpstr>
      <vt:lpstr>Descrierea scurtă a companiei</vt:lpstr>
      <vt:lpstr>Descrierea serviciului</vt:lpstr>
      <vt:lpstr>GANTT CHART</vt:lpstr>
      <vt:lpstr>Analiza SWOT</vt:lpstr>
      <vt:lpstr>Atragerea consumatorilor</vt:lpstr>
      <vt:lpstr>Structura organizatorică</vt:lpstr>
      <vt:lpstr>Concluzie</vt:lpstr>
      <vt:lpstr>Mulțumesc!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cp:lastModifiedBy>Professional</cp:lastModifiedBy>
  <cp:revision>13</cp:revision>
  <dcterms:modified xsi:type="dcterms:W3CDTF">2022-05-22T19:38:54Z</dcterms:modified>
</cp:coreProperties>
</file>